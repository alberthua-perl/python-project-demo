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ed Hat Text Light"/>
      <p:regular r:id="rId13"/>
      <p:bold r:id="rId14"/>
      <p:italic r:id="rId15"/>
      <p:boldItalic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Red Hat Text Medium"/>
      <p:regular r:id="rId21"/>
      <p:bold r:id="rId22"/>
      <p:italic r:id="rId23"/>
      <p:boldItalic r:id="rId24"/>
    </p:embeddedFont>
    <p:embeddedFont>
      <p:font typeface="Overpass"/>
      <p:regular r:id="rId25"/>
      <p:bold r:id="rId26"/>
      <p:italic r:id="rId27"/>
      <p:boldItalic r:id="rId28"/>
    </p:embeddedFont>
    <p:embeddedFont>
      <p:font typeface="Overpass Light"/>
      <p:regular r:id="rId29"/>
      <p:bold r:id="rId30"/>
      <p:italic r:id="rId31"/>
      <p:boldItalic r:id="rId32"/>
    </p:embeddedFont>
    <p:embeddedFont>
      <p:font typeface="Overpass SemiBold"/>
      <p:regular r:id="rId33"/>
      <p:bold r:id="rId34"/>
      <p:italic r:id="rId35"/>
      <p:boldItalic r:id="rId36"/>
    </p:embeddedFont>
    <p:embeddedFont>
      <p:font typeface="Red Hat Text"/>
      <p:regular r:id="rId37"/>
      <p:bold r:id="rId38"/>
      <p:italic r:id="rId39"/>
      <p:boldItalic r:id="rId40"/>
    </p:embeddedFont>
    <p:embeddedFont>
      <p:font typeface="Merriweather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edHatText-boldItalic.fntdata"/><Relationship Id="rId20" Type="http://schemas.openxmlformats.org/officeDocument/2006/relationships/font" Target="fonts/Roboto-boldItalic.fntdata"/><Relationship Id="rId42" Type="http://schemas.openxmlformats.org/officeDocument/2006/relationships/font" Target="fonts/Merriweather-bold.fntdata"/><Relationship Id="rId41" Type="http://schemas.openxmlformats.org/officeDocument/2006/relationships/font" Target="fonts/Merriweather-regular.fntdata"/><Relationship Id="rId22" Type="http://schemas.openxmlformats.org/officeDocument/2006/relationships/font" Target="fonts/RedHatTextMedium-bold.fntdata"/><Relationship Id="rId44" Type="http://schemas.openxmlformats.org/officeDocument/2006/relationships/font" Target="fonts/Merriweather-boldItalic.fntdata"/><Relationship Id="rId21" Type="http://schemas.openxmlformats.org/officeDocument/2006/relationships/font" Target="fonts/RedHatTextMedium-regular.fntdata"/><Relationship Id="rId43" Type="http://schemas.openxmlformats.org/officeDocument/2006/relationships/font" Target="fonts/Merriweather-italic.fntdata"/><Relationship Id="rId24" Type="http://schemas.openxmlformats.org/officeDocument/2006/relationships/font" Target="fonts/RedHatTextMedium-boldItalic.fntdata"/><Relationship Id="rId23" Type="http://schemas.openxmlformats.org/officeDocument/2006/relationships/font" Target="fonts/RedHatText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verpass-bold.fntdata"/><Relationship Id="rId25" Type="http://schemas.openxmlformats.org/officeDocument/2006/relationships/font" Target="fonts/Overpass-regular.fntdata"/><Relationship Id="rId28" Type="http://schemas.openxmlformats.org/officeDocument/2006/relationships/font" Target="fonts/Overpass-boldItalic.fntdata"/><Relationship Id="rId27" Type="http://schemas.openxmlformats.org/officeDocument/2006/relationships/font" Target="fonts/Overpas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verpass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verpassLight-italic.fntdata"/><Relationship Id="rId30" Type="http://schemas.openxmlformats.org/officeDocument/2006/relationships/font" Target="fonts/OverpassLight-bold.fntdata"/><Relationship Id="rId11" Type="http://schemas.openxmlformats.org/officeDocument/2006/relationships/slide" Target="slides/slide6.xml"/><Relationship Id="rId33" Type="http://schemas.openxmlformats.org/officeDocument/2006/relationships/font" Target="fonts/Overpass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OverpassLight-boldItalic.fntdata"/><Relationship Id="rId13" Type="http://schemas.openxmlformats.org/officeDocument/2006/relationships/font" Target="fonts/RedHatTextLight-regular.fntdata"/><Relationship Id="rId35" Type="http://schemas.openxmlformats.org/officeDocument/2006/relationships/font" Target="fonts/OverpassSemiBold-italic.fntdata"/><Relationship Id="rId12" Type="http://schemas.openxmlformats.org/officeDocument/2006/relationships/slide" Target="slides/slide7.xml"/><Relationship Id="rId34" Type="http://schemas.openxmlformats.org/officeDocument/2006/relationships/font" Target="fonts/OverpassSemiBold-bold.fntdata"/><Relationship Id="rId15" Type="http://schemas.openxmlformats.org/officeDocument/2006/relationships/font" Target="fonts/RedHatTextLight-italic.fntdata"/><Relationship Id="rId37" Type="http://schemas.openxmlformats.org/officeDocument/2006/relationships/font" Target="fonts/RedHatText-regular.fntdata"/><Relationship Id="rId14" Type="http://schemas.openxmlformats.org/officeDocument/2006/relationships/font" Target="fonts/RedHatTextLight-bold.fntdata"/><Relationship Id="rId36" Type="http://schemas.openxmlformats.org/officeDocument/2006/relationships/font" Target="fonts/OverpassSemiBold-boldItalic.fntdata"/><Relationship Id="rId17" Type="http://schemas.openxmlformats.org/officeDocument/2006/relationships/font" Target="fonts/Roboto-regular.fntdata"/><Relationship Id="rId39" Type="http://schemas.openxmlformats.org/officeDocument/2006/relationships/font" Target="fonts/RedHatText-italic.fntdata"/><Relationship Id="rId16" Type="http://schemas.openxmlformats.org/officeDocument/2006/relationships/font" Target="fonts/RedHatTextLight-boldItalic.fntdata"/><Relationship Id="rId38" Type="http://schemas.openxmlformats.org/officeDocument/2006/relationships/font" Target="fonts/RedHatText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151d5501d7_0_76:notes"/>
          <p:cNvSpPr/>
          <p:nvPr>
            <p:ph idx="2" type="sldImg"/>
          </p:nvPr>
        </p:nvSpPr>
        <p:spPr>
          <a:xfrm>
            <a:off x="380086" y="685800"/>
            <a:ext cx="6096300" cy="3427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g2151d5501d7_0_76:notes"/>
          <p:cNvSpPr txBox="1"/>
          <p:nvPr>
            <p:ph idx="1" type="body"/>
          </p:nvPr>
        </p:nvSpPr>
        <p:spPr>
          <a:xfrm>
            <a:off x="685800" y="4343400"/>
            <a:ext cx="5485200" cy="41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21564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151d5501d7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151d5501d7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151d5501d7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151d5501d7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151d5501d7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151d5501d7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151d5501d7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151d5501d7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151d5501d7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151d5501d7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151d5501d7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151d5501d7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">
  <p:cSld name="CUSTOM_4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62" name="Google Shape;62;p1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663788" y="4627163"/>
            <a:ext cx="6887400" cy="4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busgreyling.medium.com/the-large-language-model-landscape-9da7ee17710b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" TargetMode="External"/><Relationship Id="rId4" Type="http://schemas.openxmlformats.org/officeDocument/2006/relationships/hyperlink" Target="https://pypi.org/project/transformers/" TargetMode="External"/><Relationship Id="rId5" Type="http://schemas.openxmlformats.org/officeDocument/2006/relationships/hyperlink" Target="https://python.langchain.com/docs/integrations/llm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nomic-ai/gpt4al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61306" y="4627260"/>
            <a:ext cx="5481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b="0" i="0" sz="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772550" y="4654450"/>
            <a:ext cx="7725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July</a:t>
            </a:r>
            <a:r>
              <a:rPr i="0" lang="en" sz="900" u="none" cap="none" strike="noStrike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 202</a:t>
            </a: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4</a:t>
            </a:r>
            <a:endParaRPr i="0" sz="900" u="none" cap="none" strike="noStrike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72" name="Google Shape;72;p14"/>
          <p:cNvSpPr txBox="1"/>
          <p:nvPr>
            <p:ph idx="4294967295" type="title"/>
          </p:nvPr>
        </p:nvSpPr>
        <p:spPr>
          <a:xfrm>
            <a:off x="332250" y="1595425"/>
            <a:ext cx="46695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Running LLM’s locally</a:t>
            </a:r>
            <a:endParaRPr b="1" sz="34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0275" y="2230900"/>
            <a:ext cx="3051399" cy="203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628650" y="404700"/>
            <a:ext cx="6515100" cy="7257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What are LLMs?</a:t>
            </a:r>
            <a:endParaRPr sz="24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570550" y="1076625"/>
            <a:ext cx="76896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Large language models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 (LLMs) are a category of foundation models trained on immense amounts of data making them capable of understanding and generating natural language and other types of content to perform a wide range of tasks.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629425" y="2097075"/>
            <a:ext cx="6515700" cy="7257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Some important areas LLMs benefit:</a:t>
            </a:r>
            <a:endParaRPr sz="24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792925" y="2639100"/>
            <a:ext cx="64755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Text generation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Content summarization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AI assistants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Code generation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Sentiment analysis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Language translation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663788" y="4627163"/>
            <a:ext cx="6887400" cy="4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" type="subTitle"/>
          </p:nvPr>
        </p:nvSpPr>
        <p:spPr>
          <a:xfrm>
            <a:off x="663788" y="4627163"/>
            <a:ext cx="6887400" cy="4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Ref: </a:t>
            </a:r>
            <a:r>
              <a:rPr lang="en" sz="800" u="sng">
                <a:solidFill>
                  <a:schemeClr val="hlink"/>
                </a:solidFill>
                <a:hlinkClick r:id="rId3"/>
              </a:rPr>
              <a:t>https://cobusgreyling.medium.com/the-large-language-model-landscape-9da7ee17710b</a:t>
            </a:r>
            <a:r>
              <a:rPr lang="en" sz="800"/>
              <a:t> </a:t>
            </a:r>
            <a:endParaRPr sz="800"/>
          </a:p>
        </p:txBody>
      </p:sp>
      <p:sp>
        <p:nvSpPr>
          <p:cNvPr id="89" name="Google Shape;89;p16"/>
          <p:cNvSpPr txBox="1"/>
          <p:nvPr/>
        </p:nvSpPr>
        <p:spPr>
          <a:xfrm>
            <a:off x="705625" y="496875"/>
            <a:ext cx="5578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Large Language Model landscape</a:t>
            </a:r>
            <a:endParaRPr sz="24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2675" y="1317000"/>
            <a:ext cx="5510734" cy="3099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76250" y="480900"/>
            <a:ext cx="6515100" cy="7257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Why run locally?</a:t>
            </a:r>
            <a:endParaRPr sz="24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792925" y="1038900"/>
            <a:ext cx="64755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Data privacy and Security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Compliance with data protection regulations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R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educe latency and Improve performance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Cost efficiency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ed Hat Text Light"/>
              <a:buChar char="●"/>
            </a:pP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H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ardware performance Tuning and Optimization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897275" y="1104100"/>
            <a:ext cx="7766100" cy="3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Hugging Face and Transformers:</a:t>
            </a:r>
            <a:r>
              <a:rPr b="1" lang="en" sz="1700">
                <a:solidFill>
                  <a:srgbClr val="202B30"/>
                </a:solidFill>
                <a:highlight>
                  <a:srgbClr val="FFFFFF"/>
                </a:highlight>
              </a:rPr>
              <a:t> </a:t>
            </a:r>
            <a:r>
              <a:rPr lang="en" sz="1500" u="sng">
                <a:solidFill>
                  <a:schemeClr val="hlink"/>
                </a:solidFill>
                <a:latin typeface="Red Hat Text Light"/>
                <a:ea typeface="Red Hat Text Light"/>
                <a:cs typeface="Red Hat Text Light"/>
                <a:sym typeface="Red Hat Text Light"/>
                <a:hlinkClick r:id="rId3"/>
              </a:rPr>
              <a:t>Hugging Face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 is the Docker Hub equivalent for Machine Learning and AI, offering a large array of open-source models. It provides  </a:t>
            </a:r>
            <a:r>
              <a:rPr lang="en" sz="1500" u="sng">
                <a:solidFill>
                  <a:schemeClr val="hlink"/>
                </a:solidFill>
                <a:latin typeface="Red Hat Text Light"/>
                <a:ea typeface="Red Hat Text Light"/>
                <a:cs typeface="Red Hat Text Light"/>
                <a:sym typeface="Red Hat Text Light"/>
                <a:hlinkClick r:id="rId4"/>
              </a:rPr>
              <a:t>transformers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, a Python library that streamlines running a LLM locally.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Langchain:</a:t>
            </a:r>
            <a:r>
              <a:rPr lang="en" sz="1500">
                <a:solidFill>
                  <a:srgbClr val="677278"/>
                </a:solidFill>
                <a:highlight>
                  <a:srgbClr val="FFFFFF"/>
                </a:highlight>
              </a:rPr>
              <a:t>  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is a Python framework for building AI applications. It provides abstractions and middleware to develop your AI application on top of one of its </a:t>
            </a:r>
            <a:r>
              <a:rPr lang="en" sz="1500">
                <a:uFill>
                  <a:noFill/>
                </a:uFill>
                <a:latin typeface="Red Hat Text Light"/>
                <a:ea typeface="Red Hat Text Light"/>
                <a:cs typeface="Red Hat Text Light"/>
                <a:sym typeface="Red Hat Text Light"/>
                <a:hlinkClick r:id="rId5"/>
              </a:rPr>
              <a:t>supported models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.  </a:t>
            </a:r>
            <a:r>
              <a:rPr lang="en" sz="1500">
                <a:solidFill>
                  <a:srgbClr val="677278"/>
                </a:solidFill>
                <a:highlight>
                  <a:srgbClr val="FFFFFF"/>
                </a:highlight>
              </a:rPr>
              <a:t>       </a:t>
            </a:r>
            <a:endParaRPr sz="1500">
              <a:solidFill>
                <a:srgbClr val="67727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Llama.cpp: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 is a C and C++ based inference engine for LLMs, optimized for Apple silicon and running Meta’s Llama2 models.</a:t>
            </a:r>
            <a:endParaRPr sz="1500">
              <a:solidFill>
                <a:srgbClr val="67727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Llamafile:</a:t>
            </a:r>
            <a:r>
              <a:rPr lang="en" sz="1500">
                <a:solidFill>
                  <a:srgbClr val="677278"/>
                </a:solidFill>
                <a:highlight>
                  <a:srgbClr val="FFFFFF"/>
                </a:highlight>
              </a:rPr>
              <a:t> 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developed by Mozilla, offers a user-friendly alternative for running LLMs. Llamafile is known for its portability and the ability to create single-file executables.</a:t>
            </a:r>
            <a:endParaRPr sz="1500">
              <a:solidFill>
                <a:srgbClr val="677278"/>
              </a:solidFill>
              <a:highlight>
                <a:srgbClr val="FFFFFF"/>
              </a:highlight>
            </a:endParaRPr>
          </a:p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628650" y="480900"/>
            <a:ext cx="6515100" cy="7257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Running</a:t>
            </a:r>
            <a:r>
              <a:rPr lang="en" sz="24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 LLMs locally: </a:t>
            </a:r>
            <a:endParaRPr sz="24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04" name="Google Shape;104;p18"/>
          <p:cNvSpPr txBox="1"/>
          <p:nvPr>
            <p:ph idx="1" type="subTitle"/>
          </p:nvPr>
        </p:nvSpPr>
        <p:spPr>
          <a:xfrm>
            <a:off x="663788" y="4627163"/>
            <a:ext cx="6887400" cy="4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/>
        </p:nvSpPr>
        <p:spPr>
          <a:xfrm>
            <a:off x="973475" y="875500"/>
            <a:ext cx="7766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Ollama</a:t>
            </a: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:</a:t>
            </a:r>
            <a:r>
              <a:rPr b="1" lang="en" sz="1700">
                <a:solidFill>
                  <a:srgbClr val="202B30"/>
                </a:solidFill>
                <a:highlight>
                  <a:srgbClr val="FFFFFF"/>
                </a:highlight>
              </a:rPr>
              <a:t> </a:t>
            </a:r>
            <a:r>
              <a:rPr lang="en" sz="1500">
                <a:solidFill>
                  <a:srgbClr val="677278"/>
                </a:solidFill>
                <a:highlight>
                  <a:srgbClr val="FFFFFF"/>
                </a:highlight>
              </a:rPr>
              <a:t> 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is a more user-friendly alternative to Llama.cpp and Llamafile. You download an executable that installs a service on your machine. Once installed, you open a terminal and run a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 LLM locally.  </a:t>
            </a:r>
            <a:endParaRPr sz="1500">
              <a:latin typeface="Red Hat Text Light"/>
              <a:ea typeface="Red Hat Text Light"/>
              <a:cs typeface="Red Hat Text Light"/>
              <a:sym typeface="Red Hat Tex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GPT4ALL</a:t>
            </a: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:</a:t>
            </a:r>
            <a:r>
              <a:rPr lang="en" sz="1500">
                <a:solidFill>
                  <a:srgbClr val="677278"/>
                </a:solidFill>
                <a:highlight>
                  <a:srgbClr val="FFFFFF"/>
                </a:highlight>
              </a:rPr>
              <a:t>  </a:t>
            </a:r>
            <a:r>
              <a:rPr lang="en" sz="1500" u="sng">
                <a:solidFill>
                  <a:schemeClr val="hlink"/>
                </a:solidFill>
                <a:latin typeface="Red Hat Text Light"/>
                <a:ea typeface="Red Hat Text Light"/>
                <a:cs typeface="Red Hat Text Light"/>
                <a:sym typeface="Red Hat Text Light"/>
                <a:hlinkClick r:id="rId3"/>
              </a:rPr>
              <a:t>GPT4ALL</a:t>
            </a:r>
            <a:r>
              <a:rPr lang="en" sz="1500">
                <a:solidFill>
                  <a:srgbClr val="677278"/>
                </a:solidFill>
                <a:highlight>
                  <a:srgbClr val="FFFFFF"/>
                </a:highlight>
              </a:rPr>
              <a:t> </a:t>
            </a:r>
            <a:r>
              <a:rPr lang="en" sz="1500">
                <a:latin typeface="Red Hat Text Light"/>
                <a:ea typeface="Red Hat Text Light"/>
                <a:cs typeface="Red Hat Text Light"/>
                <a:sym typeface="Red Hat Text Light"/>
              </a:rPr>
              <a:t>is an easy-to-use desktop application with an intuitive GUI. It supports local model running and offers connectivity to OpenAI with an API key.</a:t>
            </a:r>
            <a:endParaRPr sz="1500">
              <a:solidFill>
                <a:srgbClr val="677278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sz="1500">
              <a:solidFill>
                <a:srgbClr val="677278"/>
              </a:solidFill>
              <a:highlight>
                <a:srgbClr val="FFFFFF"/>
              </a:highlight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973475" y="2856700"/>
            <a:ext cx="77661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1600">
                <a:solidFill>
                  <a:srgbClr val="EE0000"/>
                </a:solidFill>
                <a:latin typeface="Red Hat Text Light"/>
                <a:ea typeface="Red Hat Text Light"/>
                <a:cs typeface="Red Hat Text Light"/>
                <a:sym typeface="Red Hat Text Light"/>
              </a:rPr>
              <a:t>Some other solutions are LM Studio, Nextchat, Jan AI, ONNX etc</a:t>
            </a:r>
            <a:endParaRPr sz="1500">
              <a:solidFill>
                <a:srgbClr val="677278"/>
              </a:solidFill>
              <a:highlight>
                <a:srgbClr val="FFFFFF"/>
              </a:highlight>
            </a:endParaRPr>
          </a:p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663788" y="4627163"/>
            <a:ext cx="6887400" cy="4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663788" y="4627163"/>
            <a:ext cx="6887400" cy="4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4427" y="1108829"/>
            <a:ext cx="2808125" cy="28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4195525" y="1562100"/>
            <a:ext cx="8427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verpass Light"/>
                <a:ea typeface="Overpass Light"/>
                <a:cs typeface="Overpass Light"/>
                <a:sym typeface="Overpass Light"/>
              </a:rPr>
              <a:t>DEMO</a:t>
            </a:r>
            <a:endParaRPr sz="18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